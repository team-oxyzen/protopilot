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ptos Bold" charset="1" panose="020B0004020202020204"/>
      <p:regular r:id="rId13"/>
    </p:embeddedFont>
    <p:embeddedFont>
      <p:font typeface="Aptos" charset="1" panose="020B00040202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2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266148"/>
            <a:chOff x="0" y="0"/>
            <a:chExt cx="24427878" cy="354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354838"/>
            </a:xfrm>
            <a:custGeom>
              <a:avLst/>
              <a:gdLst/>
              <a:ahLst/>
              <a:cxnLst/>
              <a:rect r="r" b="b" t="t" l="l"/>
              <a:pathLst>
                <a:path h="354838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354838"/>
                  </a:lnTo>
                  <a:lnTo>
                    <a:pt x="0" y="354838"/>
                  </a:lnTo>
                  <a:close/>
                </a:path>
              </a:pathLst>
            </a:custGeom>
            <a:solidFill>
              <a:srgbClr val="FFC72C"/>
            </a:solidFill>
            <a:ln w="19065" cap="sq">
              <a:solidFill>
                <a:srgbClr val="FFC72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237544"/>
            <a:ext cx="18320909" cy="128883"/>
            <a:chOff x="0" y="0"/>
            <a:chExt cx="24427878" cy="1718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72C"/>
            </a:solidFill>
            <a:ln w="19065" cap="sq">
              <a:solidFill>
                <a:srgbClr val="FFC72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119367" y="9763897"/>
            <a:ext cx="1172108" cy="87697"/>
            <a:chOff x="0" y="0"/>
            <a:chExt cx="1562811" cy="1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2735" cy="116840"/>
            </a:xfrm>
            <a:custGeom>
              <a:avLst/>
              <a:gdLst/>
              <a:ahLst/>
              <a:cxnLst/>
              <a:rect r="r" b="b" t="t" l="l"/>
              <a:pathLst>
                <a:path h="116840" w="1562735">
                  <a:moveTo>
                    <a:pt x="0" y="58420"/>
                  </a:moveTo>
                  <a:cubicBezTo>
                    <a:pt x="0" y="26162"/>
                    <a:pt x="26162" y="0"/>
                    <a:pt x="58420" y="0"/>
                  </a:cubicBezTo>
                  <a:lnTo>
                    <a:pt x="1504315" y="0"/>
                  </a:lnTo>
                  <a:cubicBezTo>
                    <a:pt x="1536573" y="0"/>
                    <a:pt x="1562735" y="26162"/>
                    <a:pt x="1562735" y="58420"/>
                  </a:cubicBezTo>
                  <a:cubicBezTo>
                    <a:pt x="1562735" y="90678"/>
                    <a:pt x="1536573" y="116840"/>
                    <a:pt x="1504315" y="116840"/>
                  </a:cubicBezTo>
                  <a:lnTo>
                    <a:pt x="58420" y="116840"/>
                  </a:lnTo>
                  <a:cubicBezTo>
                    <a:pt x="26162" y="116967"/>
                    <a:pt x="0" y="90805"/>
                    <a:pt x="0" y="58420"/>
                  </a:cubicBezTo>
                  <a:close/>
                </a:path>
              </a:pathLst>
            </a:custGeom>
            <a:solidFill>
              <a:srgbClr val="FFC72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90892" y="5723076"/>
            <a:ext cx="7953108" cy="2093102"/>
            <a:chOff x="0" y="0"/>
            <a:chExt cx="10604144" cy="279080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1996685"/>
              <a:ext cx="2477922" cy="794118"/>
              <a:chOff x="0" y="0"/>
              <a:chExt cx="2477922" cy="79411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477897" cy="794131"/>
              </a:xfrm>
              <a:custGeom>
                <a:avLst/>
                <a:gdLst/>
                <a:ahLst/>
                <a:cxnLst/>
                <a:rect r="r" b="b" t="t" l="l"/>
                <a:pathLst>
                  <a:path h="794131" w="2477897">
                    <a:moveTo>
                      <a:pt x="0" y="113411"/>
                    </a:moveTo>
                    <a:cubicBezTo>
                      <a:pt x="0" y="50800"/>
                      <a:pt x="50800" y="0"/>
                      <a:pt x="113411" y="0"/>
                    </a:cubicBezTo>
                    <a:lnTo>
                      <a:pt x="2364486" y="0"/>
                    </a:lnTo>
                    <a:cubicBezTo>
                      <a:pt x="2427097" y="0"/>
                      <a:pt x="2477897" y="50800"/>
                      <a:pt x="2477897" y="113411"/>
                    </a:cubicBezTo>
                    <a:lnTo>
                      <a:pt x="2477897" y="680720"/>
                    </a:lnTo>
                    <a:cubicBezTo>
                      <a:pt x="2477897" y="743331"/>
                      <a:pt x="2427097" y="794131"/>
                      <a:pt x="2364486" y="794131"/>
                    </a:cubicBezTo>
                    <a:lnTo>
                      <a:pt x="113411" y="794131"/>
                    </a:lnTo>
                    <a:cubicBezTo>
                      <a:pt x="50800" y="794131"/>
                      <a:pt x="0" y="743331"/>
                      <a:pt x="0" y="680720"/>
                    </a:cubicBezTo>
                    <a:close/>
                  </a:path>
                </a:pathLst>
              </a:custGeom>
              <a:solidFill>
                <a:srgbClr val="FFC72C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310776" y="2203244"/>
              <a:ext cx="1856383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1"/>
                </a:lnSpc>
              </a:pPr>
              <a:r>
                <a:rPr lang="en-US" sz="1901" b="true">
                  <a:solidFill>
                    <a:srgbClr val="0C23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Omkar Dabir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2903965" y="1996685"/>
              <a:ext cx="2185086" cy="794118"/>
              <a:chOff x="0" y="0"/>
              <a:chExt cx="2185086" cy="79411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85035" cy="794131"/>
              </a:xfrm>
              <a:custGeom>
                <a:avLst/>
                <a:gdLst/>
                <a:ahLst/>
                <a:cxnLst/>
                <a:rect r="r" b="b" t="t" l="l"/>
                <a:pathLst>
                  <a:path h="794131" w="2185035">
                    <a:moveTo>
                      <a:pt x="0" y="113411"/>
                    </a:moveTo>
                    <a:cubicBezTo>
                      <a:pt x="0" y="50800"/>
                      <a:pt x="50800" y="0"/>
                      <a:pt x="113411" y="0"/>
                    </a:cubicBezTo>
                    <a:lnTo>
                      <a:pt x="2071624" y="0"/>
                    </a:lnTo>
                    <a:cubicBezTo>
                      <a:pt x="2134235" y="0"/>
                      <a:pt x="2185035" y="50800"/>
                      <a:pt x="2185035" y="113411"/>
                    </a:cubicBezTo>
                    <a:lnTo>
                      <a:pt x="2185035" y="680720"/>
                    </a:lnTo>
                    <a:cubicBezTo>
                      <a:pt x="2185035" y="743331"/>
                      <a:pt x="2134235" y="794131"/>
                      <a:pt x="2071624" y="794131"/>
                    </a:cubicBezTo>
                    <a:lnTo>
                      <a:pt x="113411" y="794131"/>
                    </a:lnTo>
                    <a:cubicBezTo>
                      <a:pt x="50800" y="794131"/>
                      <a:pt x="0" y="743331"/>
                      <a:pt x="0" y="680720"/>
                    </a:cubicBezTo>
                    <a:close/>
                  </a:path>
                </a:pathLst>
              </a:custGeom>
              <a:solidFill>
                <a:srgbClr val="FFC72C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3364590" y="2203244"/>
              <a:ext cx="1263848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1"/>
                </a:lnSpc>
              </a:pPr>
              <a:r>
                <a:rPr lang="en-US" sz="1901" b="true">
                  <a:solidFill>
                    <a:srgbClr val="0C23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Xin Jiang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5515094" y="1996685"/>
              <a:ext cx="2185086" cy="794118"/>
              <a:chOff x="0" y="0"/>
              <a:chExt cx="2185086" cy="79411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185035" cy="794131"/>
              </a:xfrm>
              <a:custGeom>
                <a:avLst/>
                <a:gdLst/>
                <a:ahLst/>
                <a:cxnLst/>
                <a:rect r="r" b="b" t="t" l="l"/>
                <a:pathLst>
                  <a:path h="794131" w="2185035">
                    <a:moveTo>
                      <a:pt x="0" y="113411"/>
                    </a:moveTo>
                    <a:cubicBezTo>
                      <a:pt x="0" y="50800"/>
                      <a:pt x="50800" y="0"/>
                      <a:pt x="113411" y="0"/>
                    </a:cubicBezTo>
                    <a:lnTo>
                      <a:pt x="2071624" y="0"/>
                    </a:lnTo>
                    <a:cubicBezTo>
                      <a:pt x="2134235" y="0"/>
                      <a:pt x="2185035" y="50800"/>
                      <a:pt x="2185035" y="113411"/>
                    </a:cubicBezTo>
                    <a:lnTo>
                      <a:pt x="2185035" y="680720"/>
                    </a:lnTo>
                    <a:cubicBezTo>
                      <a:pt x="2185035" y="743331"/>
                      <a:pt x="2134235" y="794131"/>
                      <a:pt x="2071624" y="794131"/>
                    </a:cubicBezTo>
                    <a:lnTo>
                      <a:pt x="113411" y="794131"/>
                    </a:lnTo>
                    <a:cubicBezTo>
                      <a:pt x="50800" y="794131"/>
                      <a:pt x="0" y="743331"/>
                      <a:pt x="0" y="680720"/>
                    </a:cubicBezTo>
                    <a:close/>
                  </a:path>
                </a:pathLst>
              </a:custGeom>
              <a:solidFill>
                <a:srgbClr val="FFC72C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5908188" y="2203244"/>
              <a:ext cx="1398885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1"/>
                </a:lnSpc>
              </a:pPr>
              <a:r>
                <a:rPr lang="en-US" sz="1901" b="true">
                  <a:solidFill>
                    <a:srgbClr val="0C23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Yiniu Han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8126222" y="1996685"/>
              <a:ext cx="2477922" cy="794118"/>
              <a:chOff x="0" y="0"/>
              <a:chExt cx="2477922" cy="79411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477897" cy="794131"/>
              </a:xfrm>
              <a:custGeom>
                <a:avLst/>
                <a:gdLst/>
                <a:ahLst/>
                <a:cxnLst/>
                <a:rect r="r" b="b" t="t" l="l"/>
                <a:pathLst>
                  <a:path h="794131" w="2477897">
                    <a:moveTo>
                      <a:pt x="0" y="113411"/>
                    </a:moveTo>
                    <a:cubicBezTo>
                      <a:pt x="0" y="50800"/>
                      <a:pt x="50800" y="0"/>
                      <a:pt x="113411" y="0"/>
                    </a:cubicBezTo>
                    <a:lnTo>
                      <a:pt x="2364486" y="0"/>
                    </a:lnTo>
                    <a:cubicBezTo>
                      <a:pt x="2427097" y="0"/>
                      <a:pt x="2477897" y="50800"/>
                      <a:pt x="2477897" y="113411"/>
                    </a:cubicBezTo>
                    <a:lnTo>
                      <a:pt x="2477897" y="680720"/>
                    </a:lnTo>
                    <a:cubicBezTo>
                      <a:pt x="2477897" y="743331"/>
                      <a:pt x="2427097" y="794131"/>
                      <a:pt x="2364486" y="794131"/>
                    </a:cubicBezTo>
                    <a:lnTo>
                      <a:pt x="113411" y="794131"/>
                    </a:lnTo>
                    <a:cubicBezTo>
                      <a:pt x="50800" y="794131"/>
                      <a:pt x="0" y="743331"/>
                      <a:pt x="0" y="680720"/>
                    </a:cubicBezTo>
                    <a:close/>
                  </a:path>
                </a:pathLst>
              </a:custGeom>
              <a:solidFill>
                <a:srgbClr val="FFC72C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8418147" y="2203244"/>
              <a:ext cx="1894086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1"/>
                </a:lnSpc>
              </a:pPr>
              <a:r>
                <a:rPr lang="en-US" sz="1901" b="true">
                  <a:solidFill>
                    <a:srgbClr val="0C23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Zhihao Wang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150294" y="0"/>
              <a:ext cx="10303556" cy="1913869"/>
            </a:xfrm>
            <a:custGeom>
              <a:avLst/>
              <a:gdLst/>
              <a:ahLst/>
              <a:cxnLst/>
              <a:rect r="r" b="b" t="t" l="l"/>
              <a:pathLst>
                <a:path h="1913869" w="10303556">
                  <a:moveTo>
                    <a:pt x="0" y="0"/>
                  </a:moveTo>
                  <a:lnTo>
                    <a:pt x="10303556" y="0"/>
                  </a:lnTo>
                  <a:lnTo>
                    <a:pt x="10303556" y="1913869"/>
                  </a:lnTo>
                  <a:lnTo>
                    <a:pt x="0" y="1913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2" t="0" r="0" b="-27526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0682744" y="2370524"/>
            <a:ext cx="6576556" cy="4891313"/>
          </a:xfrm>
          <a:custGeom>
            <a:avLst/>
            <a:gdLst/>
            <a:ahLst/>
            <a:cxnLst/>
            <a:rect r="r" b="b" t="t" l="l"/>
            <a:pathLst>
              <a:path h="4891313" w="6576556">
                <a:moveTo>
                  <a:pt x="0" y="0"/>
                </a:moveTo>
                <a:lnTo>
                  <a:pt x="6576556" y="0"/>
                </a:lnTo>
                <a:lnTo>
                  <a:pt x="6576556" y="4891313"/>
                </a:lnTo>
                <a:lnTo>
                  <a:pt x="0" y="4891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9500" y="1408499"/>
            <a:ext cx="3718247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FFC72C"/>
                </a:solidFill>
                <a:latin typeface="Aptos Bold"/>
                <a:ea typeface="Aptos Bold"/>
                <a:cs typeface="Aptos Bold"/>
                <a:sym typeface="Aptos Bold"/>
              </a:rPr>
              <a:t>ProtoPilot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4412" y="2360999"/>
            <a:ext cx="789458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2426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AI-powered rapid prototype generator for Product Managers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9500" y="566995"/>
            <a:ext cx="3843480" cy="28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FFC72C"/>
                </a:solidFill>
                <a:latin typeface="Aptos Bold"/>
                <a:ea typeface="Aptos Bold"/>
                <a:cs typeface="Aptos Bold"/>
                <a:sym typeface="Aptos Bold"/>
              </a:rPr>
              <a:t>Final Demo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9500" y="9626632"/>
            <a:ext cx="6039755" cy="31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ProtoPilot | UC Irvine MCS Capstone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8137" y="3396099"/>
            <a:ext cx="8373304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4"/>
              </a:lnSpc>
            </a:pPr>
            <a:r>
              <a:rPr lang="en-US" sz="4678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From vague ideas to working</a:t>
            </a:r>
          </a:p>
          <a:p>
            <a:pPr algn="l">
              <a:lnSpc>
                <a:spcPts val="5614"/>
              </a:lnSpc>
            </a:pPr>
            <a:r>
              <a:rPr lang="en-US" sz="4678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prototypes in minutes.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5588" y="8848725"/>
            <a:ext cx="928117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2726">
                <a:solidFill>
                  <a:srgbClr val="FFC72C"/>
                </a:solidFill>
                <a:latin typeface="Aptos"/>
                <a:ea typeface="Aptos"/>
                <a:cs typeface="Aptos"/>
                <a:sym typeface="Aptos"/>
              </a:rPr>
              <a:t>Sponsored by Cotality | Mentored by Professor Ian G. Harris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266148"/>
            <a:chOff x="0" y="0"/>
            <a:chExt cx="24427878" cy="354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354838"/>
            </a:xfrm>
            <a:custGeom>
              <a:avLst/>
              <a:gdLst/>
              <a:ahLst/>
              <a:cxnLst/>
              <a:rect r="r" b="b" t="t" l="l"/>
              <a:pathLst>
                <a:path h="354838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354838"/>
                  </a:lnTo>
                  <a:lnTo>
                    <a:pt x="0" y="354838"/>
                  </a:lnTo>
                  <a:close/>
                </a:path>
              </a:pathLst>
            </a:custGeom>
            <a:solidFill>
              <a:srgbClr val="0C234B"/>
            </a:solidFill>
            <a:ln w="19065" cap="sq">
              <a:solidFill>
                <a:srgbClr val="0C234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237544"/>
            <a:ext cx="18320909" cy="128883"/>
            <a:chOff x="0" y="0"/>
            <a:chExt cx="24427878" cy="1718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72C"/>
            </a:solidFill>
            <a:ln w="19065" cap="sq">
              <a:solidFill>
                <a:srgbClr val="FFC72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119367" y="9763897"/>
            <a:ext cx="1172108" cy="87697"/>
            <a:chOff x="0" y="0"/>
            <a:chExt cx="1562811" cy="1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2735" cy="116840"/>
            </a:xfrm>
            <a:custGeom>
              <a:avLst/>
              <a:gdLst/>
              <a:ahLst/>
              <a:cxnLst/>
              <a:rect r="r" b="b" t="t" l="l"/>
              <a:pathLst>
                <a:path h="116840" w="1562735">
                  <a:moveTo>
                    <a:pt x="0" y="58420"/>
                  </a:moveTo>
                  <a:cubicBezTo>
                    <a:pt x="0" y="26162"/>
                    <a:pt x="26162" y="0"/>
                    <a:pt x="58420" y="0"/>
                  </a:cubicBezTo>
                  <a:lnTo>
                    <a:pt x="1504315" y="0"/>
                  </a:lnTo>
                  <a:cubicBezTo>
                    <a:pt x="1536573" y="0"/>
                    <a:pt x="1562735" y="26162"/>
                    <a:pt x="1562735" y="58420"/>
                  </a:cubicBezTo>
                  <a:cubicBezTo>
                    <a:pt x="1562735" y="90678"/>
                    <a:pt x="1536573" y="116840"/>
                    <a:pt x="1504315" y="116840"/>
                  </a:cubicBezTo>
                  <a:lnTo>
                    <a:pt x="58420" y="116840"/>
                  </a:lnTo>
                  <a:cubicBezTo>
                    <a:pt x="26162" y="116967"/>
                    <a:pt x="0" y="90805"/>
                    <a:pt x="0" y="58420"/>
                  </a:cubicBezTo>
                  <a:close/>
                </a:path>
              </a:pathLst>
            </a:custGeom>
            <a:solidFill>
              <a:srgbClr val="FFC72C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416742" y="3439606"/>
            <a:ext cx="7454516" cy="5818694"/>
          </a:xfrm>
          <a:custGeom>
            <a:avLst/>
            <a:gdLst/>
            <a:ahLst/>
            <a:cxnLst/>
            <a:rect r="r" b="b" t="t" l="l"/>
            <a:pathLst>
              <a:path h="5818694" w="7454516">
                <a:moveTo>
                  <a:pt x="0" y="0"/>
                </a:moveTo>
                <a:lnTo>
                  <a:pt x="7454516" y="0"/>
                </a:lnTo>
                <a:lnTo>
                  <a:pt x="7454516" y="5818694"/>
                </a:lnTo>
                <a:lnTo>
                  <a:pt x="0" y="5818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07669" y="1070686"/>
            <a:ext cx="6483806" cy="1864094"/>
          </a:xfrm>
          <a:custGeom>
            <a:avLst/>
            <a:gdLst/>
            <a:ahLst/>
            <a:cxnLst/>
            <a:rect r="r" b="b" t="t" l="l"/>
            <a:pathLst>
              <a:path h="1864094" w="6483806">
                <a:moveTo>
                  <a:pt x="0" y="0"/>
                </a:moveTo>
                <a:lnTo>
                  <a:pt x="6483806" y="0"/>
                </a:lnTo>
                <a:lnTo>
                  <a:pt x="6483806" y="1864095"/>
                </a:lnTo>
                <a:lnTo>
                  <a:pt x="0" y="18640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9500" y="566995"/>
            <a:ext cx="3843480" cy="28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F4690"/>
                </a:solidFill>
                <a:latin typeface="Aptos Bold"/>
                <a:ea typeface="Aptos Bold"/>
                <a:cs typeface="Aptos Bold"/>
                <a:sym typeface="Aptos Bold"/>
              </a:rPr>
              <a:t>Problem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9500" y="9626632"/>
            <a:ext cx="6039755" cy="31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990B0"/>
                </a:solidFill>
                <a:latin typeface="Aptos"/>
                <a:ea typeface="Aptos"/>
                <a:cs typeface="Aptos"/>
                <a:sym typeface="Aptos"/>
              </a:rPr>
              <a:t>ProtoPilot | UC Irvine MCS Capstone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9500" y="1070686"/>
            <a:ext cx="7928297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4"/>
              </a:lnSpc>
            </a:pPr>
            <a:r>
              <a:rPr lang="en-US" sz="4578" b="true">
                <a:solidFill>
                  <a:srgbClr val="0C234B"/>
                </a:solidFill>
                <a:latin typeface="Aptos Bold"/>
                <a:ea typeface="Aptos Bold"/>
                <a:cs typeface="Aptos Bold"/>
                <a:sym typeface="Aptos Bold"/>
              </a:rPr>
              <a:t>Product Managers can’t build.</a:t>
            </a:r>
          </a:p>
          <a:p>
            <a:pPr algn="l">
              <a:lnSpc>
                <a:spcPts val="5494"/>
              </a:lnSpc>
            </a:pPr>
            <a:r>
              <a:rPr lang="en-US" sz="4578" b="true">
                <a:solidFill>
                  <a:srgbClr val="0C234B"/>
                </a:solidFill>
                <a:latin typeface="Aptos Bold"/>
                <a:ea typeface="Aptos Bold"/>
                <a:cs typeface="Aptos Bold"/>
                <a:sym typeface="Aptos Bold"/>
              </a:rPr>
              <a:t>Engineers can’t read minds.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266148"/>
            <a:chOff x="0" y="0"/>
            <a:chExt cx="24427878" cy="354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354838"/>
            </a:xfrm>
            <a:custGeom>
              <a:avLst/>
              <a:gdLst/>
              <a:ahLst/>
              <a:cxnLst/>
              <a:rect r="r" b="b" t="t" l="l"/>
              <a:pathLst>
                <a:path h="354838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354838"/>
                  </a:lnTo>
                  <a:lnTo>
                    <a:pt x="0" y="354838"/>
                  </a:lnTo>
                  <a:close/>
                </a:path>
              </a:pathLst>
            </a:custGeom>
            <a:solidFill>
              <a:srgbClr val="0C234B"/>
            </a:solidFill>
            <a:ln w="19065" cap="sq">
              <a:solidFill>
                <a:srgbClr val="0C234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237544"/>
            <a:ext cx="18320909" cy="128883"/>
            <a:chOff x="0" y="0"/>
            <a:chExt cx="24427878" cy="1718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72C"/>
            </a:solidFill>
            <a:ln w="19065" cap="sq">
              <a:solidFill>
                <a:srgbClr val="FFC72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119367" y="9763897"/>
            <a:ext cx="1172108" cy="87697"/>
            <a:chOff x="0" y="0"/>
            <a:chExt cx="1562811" cy="1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2735" cy="116840"/>
            </a:xfrm>
            <a:custGeom>
              <a:avLst/>
              <a:gdLst/>
              <a:ahLst/>
              <a:cxnLst/>
              <a:rect r="r" b="b" t="t" l="l"/>
              <a:pathLst>
                <a:path h="116840" w="1562735">
                  <a:moveTo>
                    <a:pt x="0" y="58420"/>
                  </a:moveTo>
                  <a:cubicBezTo>
                    <a:pt x="0" y="26162"/>
                    <a:pt x="26162" y="0"/>
                    <a:pt x="58420" y="0"/>
                  </a:cubicBezTo>
                  <a:lnTo>
                    <a:pt x="1504315" y="0"/>
                  </a:lnTo>
                  <a:cubicBezTo>
                    <a:pt x="1536573" y="0"/>
                    <a:pt x="1562735" y="26162"/>
                    <a:pt x="1562735" y="58420"/>
                  </a:cubicBezTo>
                  <a:cubicBezTo>
                    <a:pt x="1562735" y="90678"/>
                    <a:pt x="1536573" y="116840"/>
                    <a:pt x="1504315" y="116840"/>
                  </a:cubicBezTo>
                  <a:lnTo>
                    <a:pt x="58420" y="116840"/>
                  </a:lnTo>
                  <a:cubicBezTo>
                    <a:pt x="26162" y="116967"/>
                    <a:pt x="0" y="90805"/>
                    <a:pt x="0" y="58420"/>
                  </a:cubicBezTo>
                  <a:close/>
                </a:path>
              </a:pathLst>
            </a:custGeom>
            <a:solidFill>
              <a:srgbClr val="FFC72C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29423" y="3860798"/>
            <a:ext cx="15429154" cy="3586948"/>
          </a:xfrm>
          <a:custGeom>
            <a:avLst/>
            <a:gdLst/>
            <a:ahLst/>
            <a:cxnLst/>
            <a:rect r="r" b="b" t="t" l="l"/>
            <a:pathLst>
              <a:path h="3586948" w="15429154">
                <a:moveTo>
                  <a:pt x="0" y="0"/>
                </a:moveTo>
                <a:lnTo>
                  <a:pt x="15429154" y="0"/>
                </a:lnTo>
                <a:lnTo>
                  <a:pt x="15429154" y="3586948"/>
                </a:lnTo>
                <a:lnTo>
                  <a:pt x="0" y="3586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023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9500" y="566995"/>
            <a:ext cx="3843480" cy="28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F4690"/>
                </a:solidFill>
                <a:latin typeface="Aptos Bold"/>
                <a:ea typeface="Aptos Bold"/>
                <a:cs typeface="Aptos Bold"/>
                <a:sym typeface="Aptos Bold"/>
              </a:rPr>
              <a:t>Approach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9500" y="9626632"/>
            <a:ext cx="6039755" cy="31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990B0"/>
                </a:solidFill>
                <a:latin typeface="Aptos"/>
                <a:ea typeface="Aptos"/>
                <a:cs typeface="Aptos"/>
                <a:sym typeface="Aptos"/>
              </a:rPr>
              <a:t>ProtoPilot | UC Irvine MCS Capstone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9500" y="1070686"/>
            <a:ext cx="1280464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4"/>
              </a:lnSpc>
            </a:pPr>
            <a:r>
              <a:rPr lang="en-US" sz="4578" b="true">
                <a:solidFill>
                  <a:srgbClr val="0C234B"/>
                </a:solidFill>
                <a:latin typeface="Aptos Bold"/>
                <a:ea typeface="Aptos Bold"/>
                <a:cs typeface="Aptos Bold"/>
                <a:sym typeface="Aptos Bold"/>
              </a:rPr>
              <a:t>A guided path from ambiguity to prototype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266148"/>
            <a:chOff x="0" y="0"/>
            <a:chExt cx="24427878" cy="354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354838"/>
            </a:xfrm>
            <a:custGeom>
              <a:avLst/>
              <a:gdLst/>
              <a:ahLst/>
              <a:cxnLst/>
              <a:rect r="r" b="b" t="t" l="l"/>
              <a:pathLst>
                <a:path h="354838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354838"/>
                  </a:lnTo>
                  <a:lnTo>
                    <a:pt x="0" y="354838"/>
                  </a:lnTo>
                  <a:close/>
                </a:path>
              </a:pathLst>
            </a:custGeom>
            <a:solidFill>
              <a:srgbClr val="0C234B"/>
            </a:solidFill>
            <a:ln w="19065" cap="sq">
              <a:solidFill>
                <a:srgbClr val="0C234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237544"/>
            <a:ext cx="18320909" cy="128883"/>
            <a:chOff x="0" y="0"/>
            <a:chExt cx="24427878" cy="1718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72C"/>
            </a:solidFill>
            <a:ln w="19065" cap="sq">
              <a:solidFill>
                <a:srgbClr val="FFC72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119367" y="9763897"/>
            <a:ext cx="1172108" cy="87697"/>
            <a:chOff x="0" y="0"/>
            <a:chExt cx="1562811" cy="1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2735" cy="116840"/>
            </a:xfrm>
            <a:custGeom>
              <a:avLst/>
              <a:gdLst/>
              <a:ahLst/>
              <a:cxnLst/>
              <a:rect r="r" b="b" t="t" l="l"/>
              <a:pathLst>
                <a:path h="116840" w="1562735">
                  <a:moveTo>
                    <a:pt x="0" y="58420"/>
                  </a:moveTo>
                  <a:cubicBezTo>
                    <a:pt x="0" y="26162"/>
                    <a:pt x="26162" y="0"/>
                    <a:pt x="58420" y="0"/>
                  </a:cubicBezTo>
                  <a:lnTo>
                    <a:pt x="1504315" y="0"/>
                  </a:lnTo>
                  <a:cubicBezTo>
                    <a:pt x="1536573" y="0"/>
                    <a:pt x="1562735" y="26162"/>
                    <a:pt x="1562735" y="58420"/>
                  </a:cubicBezTo>
                  <a:cubicBezTo>
                    <a:pt x="1562735" y="90678"/>
                    <a:pt x="1536573" y="116840"/>
                    <a:pt x="1504315" y="116840"/>
                  </a:cubicBezTo>
                  <a:lnTo>
                    <a:pt x="58420" y="116840"/>
                  </a:lnTo>
                  <a:cubicBezTo>
                    <a:pt x="26162" y="116967"/>
                    <a:pt x="0" y="90805"/>
                    <a:pt x="0" y="58420"/>
                  </a:cubicBezTo>
                  <a:close/>
                </a:path>
              </a:pathLst>
            </a:custGeom>
            <a:solidFill>
              <a:srgbClr val="FFC72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30148" y="2306098"/>
            <a:ext cx="13037267" cy="7124949"/>
            <a:chOff x="0" y="0"/>
            <a:chExt cx="3433683" cy="1876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33683" cy="1876530"/>
            </a:xfrm>
            <a:custGeom>
              <a:avLst/>
              <a:gdLst/>
              <a:ahLst/>
              <a:cxnLst/>
              <a:rect r="r" b="b" t="t" l="l"/>
              <a:pathLst>
                <a:path h="1876530" w="3433683">
                  <a:moveTo>
                    <a:pt x="0" y="0"/>
                  </a:moveTo>
                  <a:lnTo>
                    <a:pt x="3433683" y="0"/>
                  </a:lnTo>
                  <a:lnTo>
                    <a:pt x="3433683" y="1876530"/>
                  </a:lnTo>
                  <a:lnTo>
                    <a:pt x="0" y="187653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3433683" cy="1886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806837" y="2431494"/>
            <a:ext cx="12674327" cy="6826806"/>
          </a:xfrm>
          <a:custGeom>
            <a:avLst/>
            <a:gdLst/>
            <a:ahLst/>
            <a:cxnLst/>
            <a:rect r="r" b="b" t="t" l="l"/>
            <a:pathLst>
              <a:path h="6826806" w="12674327">
                <a:moveTo>
                  <a:pt x="0" y="0"/>
                </a:moveTo>
                <a:lnTo>
                  <a:pt x="12674326" y="0"/>
                </a:lnTo>
                <a:lnTo>
                  <a:pt x="12674326" y="6826806"/>
                </a:lnTo>
                <a:lnTo>
                  <a:pt x="0" y="6826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321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9500" y="566995"/>
            <a:ext cx="3843480" cy="28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F4690"/>
                </a:solidFill>
                <a:latin typeface="Aptos Bold"/>
                <a:ea typeface="Aptos Bold"/>
                <a:cs typeface="Aptos Bold"/>
                <a:sym typeface="Aptos Bold"/>
              </a:rPr>
              <a:t>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9500" y="9626632"/>
            <a:ext cx="6039755" cy="31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990B0"/>
                </a:solidFill>
                <a:latin typeface="Aptos"/>
                <a:ea typeface="Aptos"/>
                <a:cs typeface="Aptos"/>
                <a:sym typeface="Aptos"/>
              </a:rPr>
              <a:t>ProtoPilot | UC Irvine MCS Capstone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9500" y="1070686"/>
            <a:ext cx="10981382" cy="851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4"/>
              </a:lnSpc>
            </a:pPr>
            <a:r>
              <a:rPr lang="en-US" sz="4578" b="true">
                <a:solidFill>
                  <a:srgbClr val="0C234B"/>
                </a:solidFill>
                <a:latin typeface="Aptos Bold"/>
                <a:ea typeface="Aptos Bold"/>
                <a:cs typeface="Aptos Bold"/>
                <a:sym typeface="Aptos Bold"/>
              </a:rPr>
              <a:t>Multi-agent orchestration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4412" y="1921745"/>
            <a:ext cx="11255912" cy="38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C6F8D"/>
                </a:solidFill>
                <a:latin typeface="Aptos"/>
                <a:ea typeface="Aptos"/>
                <a:cs typeface="Aptos"/>
                <a:sym typeface="Aptos"/>
              </a:rPr>
              <a:t>Specialized agents create the artifacts and connect to the tools PMs already use.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266148"/>
            <a:chOff x="0" y="0"/>
            <a:chExt cx="24427878" cy="354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354838"/>
            </a:xfrm>
            <a:custGeom>
              <a:avLst/>
              <a:gdLst/>
              <a:ahLst/>
              <a:cxnLst/>
              <a:rect r="r" b="b" t="t" l="l"/>
              <a:pathLst>
                <a:path h="354838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354838"/>
                  </a:lnTo>
                  <a:lnTo>
                    <a:pt x="0" y="354838"/>
                  </a:lnTo>
                  <a:close/>
                </a:path>
              </a:pathLst>
            </a:custGeom>
            <a:solidFill>
              <a:srgbClr val="0C234B"/>
            </a:solidFill>
            <a:ln w="19065" cap="sq">
              <a:solidFill>
                <a:srgbClr val="0C234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237544"/>
            <a:ext cx="18320909" cy="128883"/>
            <a:chOff x="0" y="0"/>
            <a:chExt cx="24427878" cy="1718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72C"/>
            </a:solidFill>
            <a:ln w="19065" cap="sq">
              <a:solidFill>
                <a:srgbClr val="FFC72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119367" y="9763897"/>
            <a:ext cx="1172108" cy="87697"/>
            <a:chOff x="0" y="0"/>
            <a:chExt cx="1562811" cy="1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2735" cy="116840"/>
            </a:xfrm>
            <a:custGeom>
              <a:avLst/>
              <a:gdLst/>
              <a:ahLst/>
              <a:cxnLst/>
              <a:rect r="r" b="b" t="t" l="l"/>
              <a:pathLst>
                <a:path h="116840" w="1562735">
                  <a:moveTo>
                    <a:pt x="0" y="58420"/>
                  </a:moveTo>
                  <a:cubicBezTo>
                    <a:pt x="0" y="26162"/>
                    <a:pt x="26162" y="0"/>
                    <a:pt x="58420" y="0"/>
                  </a:cubicBezTo>
                  <a:lnTo>
                    <a:pt x="1504315" y="0"/>
                  </a:lnTo>
                  <a:cubicBezTo>
                    <a:pt x="1536573" y="0"/>
                    <a:pt x="1562735" y="26162"/>
                    <a:pt x="1562735" y="58420"/>
                  </a:cubicBezTo>
                  <a:cubicBezTo>
                    <a:pt x="1562735" y="90678"/>
                    <a:pt x="1536573" y="116840"/>
                    <a:pt x="1504315" y="116840"/>
                  </a:cubicBezTo>
                  <a:lnTo>
                    <a:pt x="58420" y="116840"/>
                  </a:lnTo>
                  <a:cubicBezTo>
                    <a:pt x="26162" y="116967"/>
                    <a:pt x="0" y="90805"/>
                    <a:pt x="0" y="58420"/>
                  </a:cubicBezTo>
                  <a:close/>
                </a:path>
              </a:pathLst>
            </a:custGeom>
            <a:solidFill>
              <a:srgbClr val="FFC72C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820052" y="3282763"/>
            <a:ext cx="14661736" cy="4673975"/>
          </a:xfrm>
          <a:custGeom>
            <a:avLst/>
            <a:gdLst/>
            <a:ahLst/>
            <a:cxnLst/>
            <a:rect r="r" b="b" t="t" l="l"/>
            <a:pathLst>
              <a:path h="4673975" w="14661736">
                <a:moveTo>
                  <a:pt x="0" y="0"/>
                </a:moveTo>
                <a:lnTo>
                  <a:pt x="14661736" y="0"/>
                </a:lnTo>
                <a:lnTo>
                  <a:pt x="14661736" y="4673974"/>
                </a:lnTo>
                <a:lnTo>
                  <a:pt x="0" y="4673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162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9500" y="566995"/>
            <a:ext cx="3843480" cy="28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F4690"/>
                </a:solidFill>
                <a:latin typeface="Aptos Bold"/>
                <a:ea typeface="Aptos Bold"/>
                <a:cs typeface="Aptos Bold"/>
                <a:sym typeface="Aptos Bold"/>
              </a:rPr>
              <a:t>Demo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9500" y="9626632"/>
            <a:ext cx="6039755" cy="31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990B0"/>
                </a:solidFill>
                <a:latin typeface="Aptos"/>
                <a:ea typeface="Aptos"/>
                <a:cs typeface="Aptos"/>
                <a:sym typeface="Aptos"/>
              </a:rPr>
              <a:t>ProtoPilot | UC Irvine MCS Capstone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9500" y="1070686"/>
            <a:ext cx="4491558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4"/>
              </a:lnSpc>
            </a:pPr>
            <a:r>
              <a:rPr lang="en-US" sz="4578" b="true">
                <a:solidFill>
                  <a:srgbClr val="0C234B"/>
                </a:solidFill>
                <a:latin typeface="Aptos Bold"/>
                <a:ea typeface="Aptos Bold"/>
                <a:cs typeface="Aptos Bold"/>
                <a:sym typeface="Aptos Bold"/>
              </a:rPr>
              <a:t>Live walkthrough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4412" y="1921745"/>
            <a:ext cx="610902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C6F8D"/>
                </a:solidFill>
                <a:latin typeface="Aptos"/>
                <a:ea typeface="Aptos"/>
                <a:cs typeface="Aptos"/>
                <a:sym typeface="Aptos"/>
              </a:rPr>
              <a:t>Screens, generated app, export paths, and deployment link.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266148"/>
            <a:chOff x="0" y="0"/>
            <a:chExt cx="24427878" cy="354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354838"/>
            </a:xfrm>
            <a:custGeom>
              <a:avLst/>
              <a:gdLst/>
              <a:ahLst/>
              <a:cxnLst/>
              <a:rect r="r" b="b" t="t" l="l"/>
              <a:pathLst>
                <a:path h="354838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354838"/>
                  </a:lnTo>
                  <a:lnTo>
                    <a:pt x="0" y="354838"/>
                  </a:lnTo>
                  <a:close/>
                </a:path>
              </a:pathLst>
            </a:custGeom>
            <a:solidFill>
              <a:srgbClr val="0C234B"/>
            </a:solidFill>
            <a:ln w="19065" cap="sq">
              <a:solidFill>
                <a:srgbClr val="0C234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237544"/>
            <a:ext cx="18320909" cy="128883"/>
            <a:chOff x="0" y="0"/>
            <a:chExt cx="24427878" cy="1718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72C"/>
            </a:solidFill>
            <a:ln w="19065" cap="sq">
              <a:solidFill>
                <a:srgbClr val="FFC72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119367" y="9763897"/>
            <a:ext cx="1172108" cy="87697"/>
            <a:chOff x="0" y="0"/>
            <a:chExt cx="1562811" cy="1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2735" cy="116840"/>
            </a:xfrm>
            <a:custGeom>
              <a:avLst/>
              <a:gdLst/>
              <a:ahLst/>
              <a:cxnLst/>
              <a:rect r="r" b="b" t="t" l="l"/>
              <a:pathLst>
                <a:path h="116840" w="1562735">
                  <a:moveTo>
                    <a:pt x="0" y="58420"/>
                  </a:moveTo>
                  <a:cubicBezTo>
                    <a:pt x="0" y="26162"/>
                    <a:pt x="26162" y="0"/>
                    <a:pt x="58420" y="0"/>
                  </a:cubicBezTo>
                  <a:lnTo>
                    <a:pt x="1504315" y="0"/>
                  </a:lnTo>
                  <a:cubicBezTo>
                    <a:pt x="1536573" y="0"/>
                    <a:pt x="1562735" y="26162"/>
                    <a:pt x="1562735" y="58420"/>
                  </a:cubicBezTo>
                  <a:cubicBezTo>
                    <a:pt x="1562735" y="90678"/>
                    <a:pt x="1536573" y="116840"/>
                    <a:pt x="1504315" y="116840"/>
                  </a:cubicBezTo>
                  <a:lnTo>
                    <a:pt x="58420" y="116840"/>
                  </a:lnTo>
                  <a:cubicBezTo>
                    <a:pt x="26162" y="116967"/>
                    <a:pt x="0" y="90805"/>
                    <a:pt x="0" y="58420"/>
                  </a:cubicBezTo>
                  <a:close/>
                </a:path>
              </a:pathLst>
            </a:custGeom>
            <a:solidFill>
              <a:srgbClr val="FFC72C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84412" y="2991366"/>
            <a:ext cx="6777261" cy="2595658"/>
          </a:xfrm>
          <a:custGeom>
            <a:avLst/>
            <a:gdLst/>
            <a:ahLst/>
            <a:cxnLst/>
            <a:rect r="r" b="b" t="t" l="l"/>
            <a:pathLst>
              <a:path h="2595658" w="6777261">
                <a:moveTo>
                  <a:pt x="0" y="0"/>
                </a:moveTo>
                <a:lnTo>
                  <a:pt x="6777261" y="0"/>
                </a:lnTo>
                <a:lnTo>
                  <a:pt x="6777261" y="2595657"/>
                </a:lnTo>
                <a:lnTo>
                  <a:pt x="0" y="2595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113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28284" y="6812378"/>
            <a:ext cx="9446500" cy="1793484"/>
          </a:xfrm>
          <a:custGeom>
            <a:avLst/>
            <a:gdLst/>
            <a:ahLst/>
            <a:cxnLst/>
            <a:rect r="r" b="b" t="t" l="l"/>
            <a:pathLst>
              <a:path h="1793484" w="9446500">
                <a:moveTo>
                  <a:pt x="0" y="0"/>
                </a:moveTo>
                <a:lnTo>
                  <a:pt x="9446500" y="0"/>
                </a:lnTo>
                <a:lnTo>
                  <a:pt x="9446500" y="1793484"/>
                </a:lnTo>
                <a:lnTo>
                  <a:pt x="0" y="1793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9500" y="566995"/>
            <a:ext cx="3843480" cy="28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1F4690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9500" y="9626632"/>
            <a:ext cx="6039755" cy="31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7990B0"/>
                </a:solidFill>
                <a:latin typeface="Aptos"/>
                <a:ea typeface="Aptos"/>
                <a:cs typeface="Aptos"/>
                <a:sym typeface="Aptos"/>
              </a:rPr>
              <a:t>ProtoPilot | UC Irvine MCS Capstone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9500" y="1070686"/>
            <a:ext cx="1098138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4"/>
              </a:lnSpc>
            </a:pPr>
            <a:r>
              <a:rPr lang="en-US" sz="4578" b="true">
                <a:solidFill>
                  <a:srgbClr val="0C234B"/>
                </a:solidFill>
                <a:latin typeface="Aptos Bold"/>
                <a:ea typeface="Aptos Bold"/>
                <a:cs typeface="Aptos Bold"/>
                <a:sym typeface="Aptos Bold"/>
              </a:rPr>
              <a:t>Not ju</a:t>
            </a:r>
            <a:r>
              <a:rPr lang="en-US" sz="4578" b="true">
                <a:solidFill>
                  <a:srgbClr val="0C234B"/>
                </a:solidFill>
                <a:latin typeface="Aptos Bold"/>
                <a:ea typeface="Aptos Bold"/>
                <a:cs typeface="Aptos Bold"/>
                <a:sym typeface="Aptos Bold"/>
              </a:rPr>
              <a:t>st limited to PMs.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4412" y="1921745"/>
            <a:ext cx="11255912" cy="38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C6F8D"/>
                </a:solidFill>
                <a:latin typeface="Aptos"/>
                <a:ea typeface="Aptos"/>
                <a:cs typeface="Aptos"/>
                <a:sym typeface="Aptos"/>
              </a:rPr>
              <a:t>ProtoPilot turns product ambiguity into alignment.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921964" y="2487121"/>
            <a:ext cx="5197403" cy="3604147"/>
            <a:chOff x="0" y="0"/>
            <a:chExt cx="6929871" cy="48055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14766" y="0"/>
              <a:ext cx="6615105" cy="2203745"/>
            </a:xfrm>
            <a:custGeom>
              <a:avLst/>
              <a:gdLst/>
              <a:ahLst/>
              <a:cxnLst/>
              <a:rect r="r" b="b" t="t" l="l"/>
              <a:pathLst>
                <a:path h="2203745" w="6615105">
                  <a:moveTo>
                    <a:pt x="0" y="0"/>
                  </a:moveTo>
                  <a:lnTo>
                    <a:pt x="6615105" y="0"/>
                  </a:lnTo>
                  <a:lnTo>
                    <a:pt x="6615105" y="2203745"/>
                  </a:lnTo>
                  <a:lnTo>
                    <a:pt x="0" y="220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27786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2601784"/>
              <a:ext cx="6929871" cy="2203745"/>
            </a:xfrm>
            <a:custGeom>
              <a:avLst/>
              <a:gdLst/>
              <a:ahLst/>
              <a:cxnLst/>
              <a:rect r="r" b="b" t="t" l="l"/>
              <a:pathLst>
                <a:path h="2203745" w="6929871">
                  <a:moveTo>
                    <a:pt x="0" y="0"/>
                  </a:moveTo>
                  <a:lnTo>
                    <a:pt x="6929871" y="0"/>
                  </a:lnTo>
                  <a:lnTo>
                    <a:pt x="6929871" y="2203745"/>
                  </a:lnTo>
                  <a:lnTo>
                    <a:pt x="0" y="220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6956" t="0" r="-484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2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266148"/>
            <a:chOff x="0" y="0"/>
            <a:chExt cx="24427878" cy="354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354838"/>
            </a:xfrm>
            <a:custGeom>
              <a:avLst/>
              <a:gdLst/>
              <a:ahLst/>
              <a:cxnLst/>
              <a:rect r="r" b="b" t="t" l="l"/>
              <a:pathLst>
                <a:path h="354838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354838"/>
                  </a:lnTo>
                  <a:lnTo>
                    <a:pt x="0" y="354838"/>
                  </a:lnTo>
                  <a:close/>
                </a:path>
              </a:pathLst>
            </a:custGeom>
            <a:solidFill>
              <a:srgbClr val="FFC72C"/>
            </a:solidFill>
            <a:ln w="19065" cap="sq">
              <a:solidFill>
                <a:srgbClr val="FFC72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237544"/>
            <a:ext cx="18320909" cy="128883"/>
            <a:chOff x="0" y="0"/>
            <a:chExt cx="24427878" cy="1718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72C"/>
            </a:solidFill>
            <a:ln w="19065" cap="sq">
              <a:solidFill>
                <a:srgbClr val="FFC72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119367" y="9763897"/>
            <a:ext cx="1172108" cy="87697"/>
            <a:chOff x="0" y="0"/>
            <a:chExt cx="1562811" cy="1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2735" cy="116840"/>
            </a:xfrm>
            <a:custGeom>
              <a:avLst/>
              <a:gdLst/>
              <a:ahLst/>
              <a:cxnLst/>
              <a:rect r="r" b="b" t="t" l="l"/>
              <a:pathLst>
                <a:path h="116840" w="1562735">
                  <a:moveTo>
                    <a:pt x="0" y="58420"/>
                  </a:moveTo>
                  <a:cubicBezTo>
                    <a:pt x="0" y="26162"/>
                    <a:pt x="26162" y="0"/>
                    <a:pt x="58420" y="0"/>
                  </a:cubicBezTo>
                  <a:lnTo>
                    <a:pt x="1504315" y="0"/>
                  </a:lnTo>
                  <a:cubicBezTo>
                    <a:pt x="1536573" y="0"/>
                    <a:pt x="1562735" y="26162"/>
                    <a:pt x="1562735" y="58420"/>
                  </a:cubicBezTo>
                  <a:cubicBezTo>
                    <a:pt x="1562735" y="90678"/>
                    <a:pt x="1536573" y="116840"/>
                    <a:pt x="1504315" y="116840"/>
                  </a:cubicBezTo>
                  <a:lnTo>
                    <a:pt x="58420" y="116840"/>
                  </a:lnTo>
                  <a:cubicBezTo>
                    <a:pt x="26162" y="116967"/>
                    <a:pt x="0" y="90805"/>
                    <a:pt x="0" y="58420"/>
                  </a:cubicBezTo>
                  <a:close/>
                </a:path>
              </a:pathLst>
            </a:custGeom>
            <a:solidFill>
              <a:srgbClr val="FFC72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57079" y="5143500"/>
            <a:ext cx="15587682" cy="3709464"/>
            <a:chOff x="0" y="0"/>
            <a:chExt cx="20783576" cy="494595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948248" cy="4945952"/>
              <a:chOff x="0" y="0"/>
              <a:chExt cx="5948248" cy="494595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948084" cy="4945701"/>
              </a:xfrm>
              <a:custGeom>
                <a:avLst/>
                <a:gdLst/>
                <a:ahLst/>
                <a:cxnLst/>
                <a:rect r="r" b="b" t="t" l="l"/>
                <a:pathLst>
                  <a:path h="4945701" w="5948084">
                    <a:moveTo>
                      <a:pt x="0" y="243104"/>
                    </a:moveTo>
                    <a:cubicBezTo>
                      <a:pt x="0" y="108910"/>
                      <a:pt x="58511" y="0"/>
                      <a:pt x="130604" y="0"/>
                    </a:cubicBezTo>
                    <a:lnTo>
                      <a:pt x="5817480" y="0"/>
                    </a:lnTo>
                    <a:cubicBezTo>
                      <a:pt x="5889723" y="0"/>
                      <a:pt x="5948084" y="108910"/>
                      <a:pt x="5948084" y="243104"/>
                    </a:cubicBezTo>
                    <a:lnTo>
                      <a:pt x="5948084" y="4702597"/>
                    </a:lnTo>
                    <a:cubicBezTo>
                      <a:pt x="5948084" y="4837069"/>
                      <a:pt x="5889573" y="4945701"/>
                      <a:pt x="5817480" y="4945701"/>
                    </a:cubicBezTo>
                    <a:lnTo>
                      <a:pt x="130604" y="4945701"/>
                    </a:lnTo>
                    <a:cubicBezTo>
                      <a:pt x="58361" y="4945701"/>
                      <a:pt x="0" y="4836791"/>
                      <a:pt x="0" y="4702597"/>
                    </a:cubicBezTo>
                    <a:close/>
                  </a:path>
                </a:pathLst>
              </a:custGeom>
              <a:solidFill>
                <a:srgbClr val="102C5C"/>
              </a:solidFill>
              <a:ln w="20971" cap="sq">
                <a:solidFill>
                  <a:srgbClr val="FFC72C"/>
                </a:solidFill>
                <a:prstDash val="solid"/>
                <a:miter/>
              </a:ln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367322" y="330708"/>
              <a:ext cx="1123556" cy="153530"/>
              <a:chOff x="0" y="0"/>
              <a:chExt cx="1123556" cy="15353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23442" cy="153416"/>
              </a:xfrm>
              <a:custGeom>
                <a:avLst/>
                <a:gdLst/>
                <a:ahLst/>
                <a:cxnLst/>
                <a:rect r="r" b="b" t="t" l="l"/>
                <a:pathLst>
                  <a:path h="153416" w="1123442">
                    <a:moveTo>
                      <a:pt x="0" y="76708"/>
                    </a:moveTo>
                    <a:cubicBezTo>
                      <a:pt x="0" y="34417"/>
                      <a:pt x="34417" y="0"/>
                      <a:pt x="76708" y="0"/>
                    </a:cubicBezTo>
                    <a:lnTo>
                      <a:pt x="1046734" y="0"/>
                    </a:lnTo>
                    <a:cubicBezTo>
                      <a:pt x="1089152" y="0"/>
                      <a:pt x="1123442" y="34417"/>
                      <a:pt x="1123442" y="76708"/>
                    </a:cubicBezTo>
                    <a:cubicBezTo>
                      <a:pt x="1123442" y="118999"/>
                      <a:pt x="1089025" y="153416"/>
                      <a:pt x="1046734" y="153416"/>
                    </a:cubicBezTo>
                    <a:lnTo>
                      <a:pt x="76708" y="153416"/>
                    </a:lnTo>
                    <a:cubicBezTo>
                      <a:pt x="34417" y="153543"/>
                      <a:pt x="0" y="119126"/>
                      <a:pt x="0" y="76708"/>
                    </a:cubicBezTo>
                    <a:close/>
                  </a:path>
                </a:pathLst>
              </a:custGeom>
              <a:solidFill>
                <a:srgbClr val="FFC72C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390137" y="2078038"/>
              <a:ext cx="4913975" cy="1719891"/>
            </a:xfrm>
            <a:custGeom>
              <a:avLst/>
              <a:gdLst/>
              <a:ahLst/>
              <a:cxnLst/>
              <a:rect r="r" b="b" t="t" l="l"/>
              <a:pathLst>
                <a:path h="1719891" w="4913975">
                  <a:moveTo>
                    <a:pt x="0" y="0"/>
                  </a:moveTo>
                  <a:lnTo>
                    <a:pt x="4913975" y="0"/>
                  </a:lnTo>
                  <a:lnTo>
                    <a:pt x="4913975" y="1719891"/>
                  </a:lnTo>
                  <a:lnTo>
                    <a:pt x="0" y="1719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6620953" y="0"/>
              <a:ext cx="6012054" cy="4945952"/>
              <a:chOff x="0" y="0"/>
              <a:chExt cx="5976214" cy="491646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976112" cy="4916218"/>
              </a:xfrm>
              <a:custGeom>
                <a:avLst/>
                <a:gdLst/>
                <a:ahLst/>
                <a:cxnLst/>
                <a:rect r="r" b="b" t="t" l="l"/>
                <a:pathLst>
                  <a:path h="4916218" w="5976112">
                    <a:moveTo>
                      <a:pt x="0" y="241654"/>
                    </a:moveTo>
                    <a:cubicBezTo>
                      <a:pt x="0" y="108261"/>
                      <a:pt x="49784" y="0"/>
                      <a:pt x="111125" y="0"/>
                    </a:cubicBezTo>
                    <a:lnTo>
                      <a:pt x="5864987" y="0"/>
                    </a:lnTo>
                    <a:cubicBezTo>
                      <a:pt x="5926455" y="0"/>
                      <a:pt x="5976112" y="108261"/>
                      <a:pt x="5976112" y="241654"/>
                    </a:cubicBezTo>
                    <a:lnTo>
                      <a:pt x="5976112" y="4674564"/>
                    </a:lnTo>
                    <a:cubicBezTo>
                      <a:pt x="5976112" y="4808233"/>
                      <a:pt x="5926328" y="4916218"/>
                      <a:pt x="5864987" y="4916218"/>
                    </a:cubicBezTo>
                    <a:lnTo>
                      <a:pt x="111125" y="4916218"/>
                    </a:lnTo>
                    <a:cubicBezTo>
                      <a:pt x="49657" y="4916218"/>
                      <a:pt x="0" y="4807957"/>
                      <a:pt x="0" y="4674564"/>
                    </a:cubicBezTo>
                    <a:close/>
                  </a:path>
                </a:pathLst>
              </a:custGeom>
              <a:solidFill>
                <a:srgbClr val="102C5C"/>
              </a:solidFill>
              <a:ln w="20971" cap="sq">
                <a:solidFill>
                  <a:srgbClr val="FFC72C"/>
                </a:solidFill>
                <a:prstDash val="solid"/>
                <a:miter/>
              </a:ln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6990466" y="332691"/>
              <a:ext cx="1130294" cy="154451"/>
              <a:chOff x="0" y="0"/>
              <a:chExt cx="1123556" cy="15353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23442" cy="153416"/>
              </a:xfrm>
              <a:custGeom>
                <a:avLst/>
                <a:gdLst/>
                <a:ahLst/>
                <a:cxnLst/>
                <a:rect r="r" b="b" t="t" l="l"/>
                <a:pathLst>
                  <a:path h="153416" w="1123442">
                    <a:moveTo>
                      <a:pt x="0" y="76708"/>
                    </a:moveTo>
                    <a:cubicBezTo>
                      <a:pt x="0" y="34417"/>
                      <a:pt x="34417" y="0"/>
                      <a:pt x="76708" y="0"/>
                    </a:cubicBezTo>
                    <a:lnTo>
                      <a:pt x="1046734" y="0"/>
                    </a:lnTo>
                    <a:cubicBezTo>
                      <a:pt x="1089152" y="0"/>
                      <a:pt x="1123442" y="34417"/>
                      <a:pt x="1123442" y="76708"/>
                    </a:cubicBezTo>
                    <a:cubicBezTo>
                      <a:pt x="1123442" y="118999"/>
                      <a:pt x="1089025" y="153416"/>
                      <a:pt x="1046734" y="153416"/>
                    </a:cubicBezTo>
                    <a:lnTo>
                      <a:pt x="76708" y="153416"/>
                    </a:lnTo>
                    <a:cubicBezTo>
                      <a:pt x="34417" y="153543"/>
                      <a:pt x="0" y="119126"/>
                      <a:pt x="0" y="76708"/>
                    </a:cubicBezTo>
                    <a:close/>
                  </a:path>
                </a:pathLst>
              </a:custGeom>
              <a:solidFill>
                <a:srgbClr val="FFC72C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7003255" y="796894"/>
              <a:ext cx="5247439" cy="488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  <a:r>
                <a:rPr lang="en-US" sz="2491" b="true">
                  <a:solidFill>
                    <a:srgbClr val="FFC72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Mentors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7003255" y="1488180"/>
              <a:ext cx="5049172" cy="31471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4"/>
                </a:lnSpc>
              </a:pPr>
              <a:r>
                <a:rPr lang="en-US" sz="1937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Professor Ian G. Harris, UCI</a:t>
              </a:r>
            </a:p>
            <a:p>
              <a:pPr algn="l">
                <a:lnSpc>
                  <a:spcPts val="2324"/>
                </a:lnSpc>
              </a:pPr>
              <a:r>
                <a:rPr lang="en-US" sz="1937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Professor Jennifer L. Wong-Ma, UCI</a:t>
              </a:r>
            </a:p>
            <a:p>
              <a:pPr algn="l">
                <a:lnSpc>
                  <a:spcPts val="2324"/>
                </a:lnSpc>
              </a:pPr>
              <a:r>
                <a:rPr lang="en-US" sz="1937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Sergio Gago-Masague, UCI</a:t>
              </a:r>
            </a:p>
            <a:p>
              <a:pPr algn="l">
                <a:lnSpc>
                  <a:spcPts val="2324"/>
                </a:lnSpc>
              </a:pPr>
            </a:p>
            <a:p>
              <a:pPr algn="l">
                <a:lnSpc>
                  <a:spcPts val="2324"/>
                </a:lnSpc>
              </a:pPr>
              <a:r>
                <a:rPr lang="en-US" sz="1937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Dakota Oberhauser, Cotality</a:t>
              </a:r>
            </a:p>
            <a:p>
              <a:pPr algn="l">
                <a:lnSpc>
                  <a:spcPts val="2324"/>
                </a:lnSpc>
              </a:pPr>
              <a:r>
                <a:rPr lang="en-US" sz="1937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Dipesh Gandhi, Cotality</a:t>
              </a:r>
            </a:p>
            <a:p>
              <a:pPr algn="l">
                <a:lnSpc>
                  <a:spcPts val="2324"/>
                </a:lnSpc>
              </a:pPr>
              <a:r>
                <a:rPr lang="en-US" sz="1937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Rania Kodsy, Cotality</a:t>
              </a:r>
            </a:p>
            <a:p>
              <a:pPr algn="l">
                <a:lnSpc>
                  <a:spcPts val="2324"/>
                </a:lnSpc>
              </a:pP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13306107" y="0"/>
              <a:ext cx="7477469" cy="4945951"/>
              <a:chOff x="0" y="0"/>
              <a:chExt cx="7749921" cy="512616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749934" cy="5126101"/>
              </a:xfrm>
              <a:custGeom>
                <a:avLst/>
                <a:gdLst/>
                <a:ahLst/>
                <a:cxnLst/>
                <a:rect r="r" b="b" t="t" l="l"/>
                <a:pathLst>
                  <a:path h="5126101" w="7749934">
                    <a:moveTo>
                      <a:pt x="0" y="110617"/>
                    </a:moveTo>
                    <a:cubicBezTo>
                      <a:pt x="0" y="49530"/>
                      <a:pt x="71805" y="0"/>
                      <a:pt x="160364" y="0"/>
                    </a:cubicBezTo>
                    <a:lnTo>
                      <a:pt x="7589576" y="0"/>
                    </a:lnTo>
                    <a:cubicBezTo>
                      <a:pt x="7678135" y="0"/>
                      <a:pt x="7749934" y="49530"/>
                      <a:pt x="7749934" y="110617"/>
                    </a:cubicBezTo>
                    <a:lnTo>
                      <a:pt x="7749934" y="5015484"/>
                    </a:lnTo>
                    <a:cubicBezTo>
                      <a:pt x="7749934" y="5076571"/>
                      <a:pt x="7678135" y="5126101"/>
                      <a:pt x="7589576" y="5126101"/>
                    </a:cubicBezTo>
                    <a:lnTo>
                      <a:pt x="160364" y="5126101"/>
                    </a:lnTo>
                    <a:cubicBezTo>
                      <a:pt x="71805" y="5126101"/>
                      <a:pt x="0" y="5076571"/>
                      <a:pt x="0" y="5015484"/>
                    </a:cubicBezTo>
                    <a:close/>
                  </a:path>
                </a:pathLst>
              </a:custGeom>
              <a:solidFill>
                <a:srgbClr val="102C5C"/>
              </a:solidFill>
              <a:ln w="28597" cap="sq">
                <a:solidFill>
                  <a:srgbClr val="FFC72C"/>
                </a:solidFill>
                <a:prstDash val="solid"/>
                <a:miter/>
              </a:ln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13669986" y="321551"/>
              <a:ext cx="1323457" cy="171844"/>
              <a:chOff x="0" y="0"/>
              <a:chExt cx="1323457" cy="17184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23546" cy="171958"/>
              </a:xfrm>
              <a:custGeom>
                <a:avLst/>
                <a:gdLst/>
                <a:ahLst/>
                <a:cxnLst/>
                <a:rect r="r" b="b" t="t" l="l"/>
                <a:pathLst>
                  <a:path h="171958" w="1323546">
                    <a:moveTo>
                      <a:pt x="0" y="85979"/>
                    </a:moveTo>
                    <a:cubicBezTo>
                      <a:pt x="0" y="38481"/>
                      <a:pt x="14693" y="0"/>
                      <a:pt x="32828" y="0"/>
                    </a:cubicBezTo>
                    <a:lnTo>
                      <a:pt x="1290663" y="0"/>
                    </a:lnTo>
                    <a:cubicBezTo>
                      <a:pt x="1308799" y="0"/>
                      <a:pt x="1323546" y="38481"/>
                      <a:pt x="1323546" y="85979"/>
                    </a:cubicBezTo>
                    <a:cubicBezTo>
                      <a:pt x="1323546" y="133477"/>
                      <a:pt x="1308799" y="171958"/>
                      <a:pt x="1290663" y="171958"/>
                    </a:cubicBezTo>
                    <a:lnTo>
                      <a:pt x="32828" y="171958"/>
                    </a:lnTo>
                    <a:cubicBezTo>
                      <a:pt x="14693" y="171831"/>
                      <a:pt x="0" y="133350"/>
                      <a:pt x="0" y="85979"/>
                    </a:cubicBezTo>
                    <a:close/>
                  </a:path>
                </a:pathLst>
              </a:custGeom>
              <a:solidFill>
                <a:srgbClr val="FFC72C"/>
              </a:solidFill>
            </p:spPr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13981380" y="1841326"/>
              <a:ext cx="6063856" cy="1743423"/>
            </a:xfrm>
            <a:custGeom>
              <a:avLst/>
              <a:gdLst/>
              <a:ahLst/>
              <a:cxnLst/>
              <a:rect r="r" b="b" t="t" l="l"/>
              <a:pathLst>
                <a:path h="1743423" w="6063856">
                  <a:moveTo>
                    <a:pt x="0" y="0"/>
                  </a:moveTo>
                  <a:lnTo>
                    <a:pt x="6063855" y="0"/>
                  </a:lnTo>
                  <a:lnTo>
                    <a:pt x="6063855" y="1743423"/>
                  </a:lnTo>
                  <a:lnTo>
                    <a:pt x="0" y="174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271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380022" y="782676"/>
              <a:ext cx="4301046" cy="5856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2"/>
                </a:lnSpc>
              </a:pPr>
              <a:r>
                <a:rPr lang="en-US" sz="2476" b="true">
                  <a:solidFill>
                    <a:srgbClr val="FFC72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Sponsored by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3753119" y="792201"/>
              <a:ext cx="5247439" cy="488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  <a:r>
                <a:rPr lang="en-US" sz="2491" b="true">
                  <a:solidFill>
                    <a:srgbClr val="FFC72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UCI MCS Program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9500" y="566995"/>
            <a:ext cx="3843480" cy="28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FFC72C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9500" y="9626632"/>
            <a:ext cx="6039755" cy="31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ProtoPilot | UC Irvine MCS Capstone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90495" y="2310979"/>
            <a:ext cx="3707011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4"/>
              </a:lnSpc>
            </a:pPr>
            <a:r>
              <a:rPr lang="en-US" sz="5853" b="true">
                <a:solidFill>
                  <a:srgbClr val="FFC72C"/>
                </a:solidFill>
                <a:latin typeface="Aptos Bold"/>
                <a:ea typeface="Aptos Bold"/>
                <a:cs typeface="Aptos Bold"/>
                <a:sym typeface="Aptos Bold"/>
              </a:rPr>
              <a:t>Thank You!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2317" y="3458000"/>
            <a:ext cx="7997205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926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Thank you to our sponsors and mentor professors </a:t>
            </a:r>
          </a:p>
          <a:p>
            <a:pPr algn="ctr">
              <a:lnSpc>
                <a:spcPts val="3511"/>
              </a:lnSpc>
            </a:pPr>
            <a:r>
              <a:rPr lang="en-US" sz="2926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for support and guidance.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DAHMIoB57aQ</dc:identifier>
  <dcterms:modified xsi:type="dcterms:W3CDTF">2011-08-01T06:04:30Z</dcterms:modified>
  <cp:revision>1</cp:revision>
  <dc:title>Sponsored by Cotality | Mentored by Professor Ian G. Harris</dc:title>
</cp:coreProperties>
</file>